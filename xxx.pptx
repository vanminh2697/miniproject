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85" r:id="rId3"/>
    <p:sldId id="259" r:id="rId4"/>
    <p:sldId id="286" r:id="rId5"/>
    <p:sldId id="288" r:id="rId6"/>
    <p:sldId id="287" r:id="rId7"/>
    <p:sldId id="299" r:id="rId8"/>
    <p:sldId id="295" r:id="rId9"/>
    <p:sldId id="289" r:id="rId10"/>
    <p:sldId id="290" r:id="rId11"/>
    <p:sldId id="261" r:id="rId12"/>
    <p:sldId id="291" r:id="rId13"/>
    <p:sldId id="292" r:id="rId14"/>
    <p:sldId id="296" r:id="rId15"/>
    <p:sldId id="293" r:id="rId16"/>
    <p:sldId id="297" r:id="rId17"/>
    <p:sldId id="298" r:id="rId18"/>
    <p:sldId id="278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51C139-4A55-4F1C-8D21-606A460AC8DD}">
  <a:tblStyle styleId="{D251C139-4A55-4F1C-8D21-606A460AC8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34" autoAdjust="0"/>
  </p:normalViewPr>
  <p:slideViewPr>
    <p:cSldViewPr snapToGrid="0">
      <p:cViewPr>
        <p:scale>
          <a:sx n="150" d="100"/>
          <a:sy n="150" d="100"/>
        </p:scale>
        <p:origin x="474" y="-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836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847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588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042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04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458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bin templat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269738" y="253581"/>
            <a:ext cx="4305890" cy="4636339"/>
            <a:chOff x="4707786" y="372793"/>
            <a:chExt cx="5700900" cy="6138407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707786" y="372793"/>
              <a:ext cx="5700900" cy="6138300"/>
            </a:xfrm>
            <a:prstGeom prst="snip1Rect">
              <a:avLst>
                <a:gd name="adj" fmla="val 14584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85800" y="702806"/>
            <a:ext cx="3547800" cy="11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269767" y="2573194"/>
            <a:ext cx="8613597" cy="2316726"/>
            <a:chOff x="4707825" y="3443908"/>
            <a:chExt cx="11404207" cy="3067292"/>
          </a:xfrm>
        </p:grpSpPr>
        <p:sp>
          <p:nvSpPr>
            <p:cNvPr id="17" name="Google Shape;17;p3"/>
            <p:cNvSpPr/>
            <p:nvPr/>
          </p:nvSpPr>
          <p:spPr>
            <a:xfrm rot="10800000">
              <a:off x="4707832" y="3443908"/>
              <a:ext cx="11404200" cy="3067200"/>
            </a:xfrm>
            <a:prstGeom prst="snip1Rect">
              <a:avLst>
                <a:gd name="adj" fmla="val 27420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881075"/>
            <a:ext cx="7908000" cy="6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85800" y="3547231"/>
            <a:ext cx="79080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 rot="5400000">
            <a:off x="2419021" y="422809"/>
            <a:ext cx="4305965" cy="4297807"/>
            <a:chOff x="4707687" y="820993"/>
            <a:chExt cx="5700999" cy="5690198"/>
          </a:xfrm>
        </p:grpSpPr>
        <p:sp>
          <p:nvSpPr>
            <p:cNvPr id="31" name="Google Shape;31;p5"/>
            <p:cNvSpPr/>
            <p:nvPr/>
          </p:nvSpPr>
          <p:spPr>
            <a:xfrm rot="10800000">
              <a:off x="4707786" y="820993"/>
              <a:ext cx="5700900" cy="5690100"/>
            </a:xfrm>
            <a:prstGeom prst="snip1Rect">
              <a:avLst>
                <a:gd name="adj" fmla="val 20143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rot="10800000">
              <a:off x="4707687" y="5376591"/>
              <a:ext cx="1134600" cy="11346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5842287" y="5373291"/>
              <a:ext cx="423900" cy="11379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2661300" y="1010850"/>
            <a:ext cx="3821400" cy="309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55600" algn="ctr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 i="1"/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 i="1"/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 i="1"/>
            </a:lvl3pPr>
            <a:lvl4pPr marL="1828800" lvl="3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 i="1"/>
            </a:lvl4pPr>
            <a:lvl5pPr marL="2286000" lvl="4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 i="1"/>
            </a:lvl5pPr>
            <a:lvl6pPr marL="2743200" lvl="5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 i="1"/>
            </a:lvl6pPr>
            <a:lvl7pPr marL="3200400" lvl="6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 i="1"/>
            </a:lvl7pPr>
            <a:lvl8pPr marL="3657600" lvl="7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 i="1"/>
            </a:lvl8pPr>
            <a:lvl9pPr marL="4114800" lvl="8" indent="-355600" algn="ctr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 i="1"/>
            </a:lvl9pPr>
          </a:lstStyle>
          <a:p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2661303" y="628170"/>
            <a:ext cx="7215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7200">
              <a:solidFill>
                <a:srgbClr val="1111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4339800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269756" y="878980"/>
            <a:ext cx="8628094" cy="4010939"/>
            <a:chOff x="4707810" y="1200808"/>
            <a:chExt cx="11423400" cy="5310392"/>
          </a:xfrm>
        </p:grpSpPr>
        <p:sp>
          <p:nvSpPr>
            <p:cNvPr id="46" name="Google Shape;46;p7"/>
            <p:cNvSpPr/>
            <p:nvPr/>
          </p:nvSpPr>
          <p:spPr>
            <a:xfrm rot="10800000">
              <a:off x="4707810" y="1200808"/>
              <a:ext cx="11423400" cy="5310300"/>
            </a:xfrm>
            <a:prstGeom prst="snip1Rect">
              <a:avLst>
                <a:gd name="adj" fmla="val 15837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557475" y="1157300"/>
            <a:ext cx="8043600" cy="3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▪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▪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8"/>
          <p:cNvGrpSpPr/>
          <p:nvPr/>
        </p:nvGrpSpPr>
        <p:grpSpPr>
          <a:xfrm>
            <a:off x="269756" y="878980"/>
            <a:ext cx="8628094" cy="4010939"/>
            <a:chOff x="4707810" y="1200808"/>
            <a:chExt cx="11423400" cy="5310392"/>
          </a:xfrm>
        </p:grpSpPr>
        <p:sp>
          <p:nvSpPr>
            <p:cNvPr id="54" name="Google Shape;54;p8"/>
            <p:cNvSpPr/>
            <p:nvPr/>
          </p:nvSpPr>
          <p:spPr>
            <a:xfrm rot="10800000">
              <a:off x="4707810" y="1200808"/>
              <a:ext cx="11423400" cy="5310300"/>
            </a:xfrm>
            <a:prstGeom prst="snip1Rect">
              <a:avLst>
                <a:gd name="adj" fmla="val 15837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508725" y="1132475"/>
            <a:ext cx="3944400" cy="34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2"/>
          </p:nvPr>
        </p:nvSpPr>
        <p:spPr>
          <a:xfrm>
            <a:off x="4690766" y="1132475"/>
            <a:ext cx="3944400" cy="34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269756" y="878980"/>
            <a:ext cx="8628094" cy="4010939"/>
            <a:chOff x="4707810" y="1200808"/>
            <a:chExt cx="11423400" cy="5310392"/>
          </a:xfrm>
        </p:grpSpPr>
        <p:sp>
          <p:nvSpPr>
            <p:cNvPr id="73" name="Google Shape;73;p10"/>
            <p:cNvSpPr/>
            <p:nvPr/>
          </p:nvSpPr>
          <p:spPr>
            <a:xfrm rot="10800000">
              <a:off x="4707810" y="1200808"/>
              <a:ext cx="11423400" cy="5310300"/>
            </a:xfrm>
            <a:prstGeom prst="snip1Rect">
              <a:avLst>
                <a:gd name="adj" fmla="val 15837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0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2"/>
          <p:cNvGrpSpPr/>
          <p:nvPr/>
        </p:nvGrpSpPr>
        <p:grpSpPr>
          <a:xfrm>
            <a:off x="269756" y="278064"/>
            <a:ext cx="8628094" cy="4611856"/>
            <a:chOff x="4707810" y="405208"/>
            <a:chExt cx="11423400" cy="6105992"/>
          </a:xfrm>
        </p:grpSpPr>
        <p:sp>
          <p:nvSpPr>
            <p:cNvPr id="87" name="Google Shape;87;p12"/>
            <p:cNvSpPr/>
            <p:nvPr/>
          </p:nvSpPr>
          <p:spPr>
            <a:xfrm rot="10800000">
              <a:off x="4707810" y="405208"/>
              <a:ext cx="11423400" cy="6105900"/>
            </a:xfrm>
            <a:prstGeom prst="snip1Rect">
              <a:avLst>
                <a:gd name="adj" fmla="val 13774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2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2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7325" y="1157306"/>
            <a:ext cx="7642800" cy="3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37325" y="4262913"/>
            <a:ext cx="4644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6" r:id="rId6"/>
    <p:sldLayoutId id="2147483658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ctrTitle"/>
          </p:nvPr>
        </p:nvSpPr>
        <p:spPr>
          <a:xfrm>
            <a:off x="298450" y="1871206"/>
            <a:ext cx="4857750" cy="24183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3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SmallTalk</a:t>
            </a:r>
            <a:endParaRPr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1695775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725" y="1023729"/>
            <a:ext cx="7600225" cy="275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SmallTalk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MCFrame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11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ctrTitle"/>
          </p:nvPr>
        </p:nvSpPr>
        <p:spPr>
          <a:xfrm>
            <a:off x="2463800" y="3371849"/>
            <a:ext cx="4749800" cy="6921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5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500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5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557475" y="1157300"/>
            <a:ext cx="8043600" cy="3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SmallTalk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0"/>
              </a:spcBef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Xerox Palo Alto Research (PARC)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1969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1980.</a:t>
            </a:r>
          </a:p>
          <a:p>
            <a:pPr lvl="0">
              <a:spcBef>
                <a:spcPts val="0"/>
              </a:spcBef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Smalltalk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813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557475" y="1157300"/>
            <a:ext cx="8043600" cy="1173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Có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nhiều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công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cụ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phát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triển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Squeak,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VisualWorks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P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haro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SmallTalk</a:t>
            </a:r>
            <a:r>
              <a:rPr lang="en-US" sz="2800" dirty="0" smtClean="0">
                <a:latin typeface="Times New Roman" panose="02020603050405020304" pitchFamily="18" charset="0"/>
                <a:ea typeface="Yu Gothic UI" panose="020B0500000000000000" pitchFamily="50" charset="-128"/>
                <a:cs typeface="Times New Roman" panose="02020603050405020304" pitchFamily="18" charset="0"/>
              </a:rPr>
              <a:t>...</a:t>
            </a:r>
          </a:p>
          <a:p>
            <a:pPr lvl="0">
              <a:spcBef>
                <a:spcPts val="0"/>
              </a:spcBef>
            </a:pPr>
            <a:endParaRPr sz="2800" dirty="0">
              <a:latin typeface="Times New Roman" panose="02020603050405020304" pitchFamily="18" charset="0"/>
              <a:ea typeface="Yu Gothic UI" panose="020B05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15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663684" y="4220163"/>
            <a:ext cx="403347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cụ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Browser </a:t>
            </a:r>
            <a:r>
              <a:rPr lang="en-US" dirty="0" err="1" smtClean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VisualWork</a:t>
            </a:r>
            <a:endParaRPr lang="en-US" sz="11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765935" y="628173"/>
            <a:ext cx="5612130" cy="3634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8046" y="836882"/>
            <a:ext cx="1094076" cy="283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Category</a:t>
            </a:r>
            <a:endParaRPr lang="en-US" sz="1100" dirty="0">
              <a:effectLst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638090" y="1121739"/>
            <a:ext cx="0" cy="2063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729822" y="1120839"/>
            <a:ext cx="0" cy="2063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227873" y="1120839"/>
            <a:ext cx="0" cy="2063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594038" y="1143648"/>
            <a:ext cx="0" cy="2063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95570" y="842023"/>
            <a:ext cx="914954" cy="30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Classes</a:t>
            </a:r>
            <a:endParaRPr lang="en-US" sz="1100" dirty="0">
              <a:effectLst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60835" y="836882"/>
            <a:ext cx="1094904" cy="29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Protocol</a:t>
            </a:r>
            <a:endParaRPr lang="en-US" sz="1100" dirty="0">
              <a:effectLst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02487" y="851379"/>
            <a:ext cx="1183101" cy="278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rPr>
              <a:t>Method</a:t>
            </a:r>
            <a:endParaRPr lang="en-US" sz="1100" dirty="0">
              <a:effectLst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51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2725" y="412750"/>
            <a:ext cx="8401200" cy="470938"/>
          </a:xfrm>
        </p:spPr>
        <p:txBody>
          <a:bodyPr/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Smalltalk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666" y="1587325"/>
            <a:ext cx="2842113" cy="1971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25" y="1587325"/>
            <a:ext cx="2619741" cy="1971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367" y="1587325"/>
            <a:ext cx="2589828" cy="19719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90575" y="1225550"/>
            <a:ext cx="1922475" cy="28575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Prameter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81375" y="1225550"/>
            <a:ext cx="1890725" cy="28575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Parameter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48917" y="1225550"/>
            <a:ext cx="2087033" cy="28575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Prameter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13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ctrTitle"/>
          </p:nvPr>
        </p:nvSpPr>
        <p:spPr>
          <a:xfrm>
            <a:off x="1993900" y="3389075"/>
            <a:ext cx="5645150" cy="6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5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500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5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6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385701"/>
              </p:ext>
            </p:extLst>
          </p:nvPr>
        </p:nvGraphicFramePr>
        <p:xfrm>
          <a:off x="2254635" y="1347137"/>
          <a:ext cx="4462780" cy="2867388"/>
        </p:xfrm>
        <a:graphic>
          <a:graphicData uri="http://schemas.openxmlformats.org/drawingml/2006/table">
            <a:tbl>
              <a:tblPr firstRow="1" firstCol="1" bandRow="1">
                <a:tableStyleId>{D251C139-4A55-4F1C-8D21-606A460AC8DD}</a:tableStyleId>
              </a:tblPr>
              <a:tblGrid>
                <a:gridCol w="1495425">
                  <a:extLst>
                    <a:ext uri="{9D8B030D-6E8A-4147-A177-3AD203B41FA5}">
                      <a16:colId xmlns:a16="http://schemas.microsoft.com/office/drawing/2014/main" val="3429017731"/>
                    </a:ext>
                  </a:extLst>
                </a:gridCol>
                <a:gridCol w="1499235">
                  <a:extLst>
                    <a:ext uri="{9D8B030D-6E8A-4147-A177-3AD203B41FA5}">
                      <a16:colId xmlns:a16="http://schemas.microsoft.com/office/drawing/2014/main" val="2700822510"/>
                    </a:ext>
                  </a:extLst>
                </a:gridCol>
                <a:gridCol w="1468120">
                  <a:extLst>
                    <a:ext uri="{9D8B030D-6E8A-4147-A177-3AD203B41FA5}">
                      <a16:colId xmlns:a16="http://schemas.microsoft.com/office/drawing/2014/main" val="4249221238"/>
                    </a:ext>
                  </a:extLst>
                </a:gridCol>
              </a:tblGrid>
              <a:tr h="30879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 tả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6577895"/>
                  </a:ext>
                </a:extLst>
              </a:tr>
              <a:tr h="48525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+ 4 = 7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669314"/>
                  </a:ext>
                </a:extLst>
              </a:tr>
              <a:tr h="48525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trừ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3 - 4 = 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1957762"/>
                  </a:ext>
                </a:extLst>
              </a:tr>
              <a:tr h="48525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3*4 = 12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04438"/>
                  </a:ext>
                </a:extLst>
              </a:tr>
              <a:tr h="48525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 = 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3459305"/>
                  </a:ext>
                </a:extLst>
              </a:tr>
              <a:tr h="30879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trợ</a:t>
                      </a:r>
                      <a:endParaRPr lang="en-US" sz="1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26494"/>
                  </a:ext>
                </a:extLst>
              </a:tr>
              <a:tr h="30879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trợ</a:t>
                      </a:r>
                      <a:endParaRPr lang="en-US" sz="1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51429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0448" y="883688"/>
            <a:ext cx="2570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44566" y="4154753"/>
            <a:ext cx="5359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3*3    	</a:t>
            </a:r>
            <a:r>
              <a:rPr lang="en-US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18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+ (3*3) 	</a:t>
            </a:r>
            <a:r>
              <a:rPr lang="en-US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12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4" name="TextBox 3"/>
          <p:cNvSpPr txBox="1"/>
          <p:nvPr/>
        </p:nvSpPr>
        <p:spPr>
          <a:xfrm>
            <a:off x="508724" y="1007166"/>
            <a:ext cx="27805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252408"/>
              </p:ext>
            </p:extLst>
          </p:nvPr>
        </p:nvGraphicFramePr>
        <p:xfrm>
          <a:off x="2141991" y="1570487"/>
          <a:ext cx="4462780" cy="2525840"/>
        </p:xfrm>
        <a:graphic>
          <a:graphicData uri="http://schemas.openxmlformats.org/drawingml/2006/table">
            <a:tbl>
              <a:tblPr firstRow="1" firstCol="1" bandRow="1">
                <a:tableStyleId>{D251C139-4A55-4F1C-8D21-606A460AC8DD}</a:tableStyleId>
              </a:tblPr>
              <a:tblGrid>
                <a:gridCol w="1196975">
                  <a:extLst>
                    <a:ext uri="{9D8B030D-6E8A-4147-A177-3AD203B41FA5}">
                      <a16:colId xmlns:a16="http://schemas.microsoft.com/office/drawing/2014/main" val="851638813"/>
                    </a:ext>
                  </a:extLst>
                </a:gridCol>
                <a:gridCol w="3265805">
                  <a:extLst>
                    <a:ext uri="{9D8B030D-6E8A-4147-A177-3AD203B41FA5}">
                      <a16:colId xmlns:a16="http://schemas.microsoft.com/office/drawing/2014/main" val="1205788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Toán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tử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Mô tả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000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=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So </a:t>
                      </a:r>
                      <a:r>
                        <a:rPr lang="en-US" sz="1400" dirty="0" err="1">
                          <a:effectLst/>
                        </a:rPr>
                        <a:t>sánh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bằng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703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~=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So </a:t>
                      </a:r>
                      <a:r>
                        <a:rPr lang="en-US" sz="1400" dirty="0" err="1">
                          <a:effectLst/>
                        </a:rPr>
                        <a:t>sánh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khác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493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&gt;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Lớn hơn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3120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&lt;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Nhỏ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hơn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170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&gt;=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Lớn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hơn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bằng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1946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==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So </a:t>
                      </a:r>
                      <a:r>
                        <a:rPr lang="en-US" sz="1400" dirty="0" err="1">
                          <a:effectLst/>
                        </a:rPr>
                        <a:t>sánh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địa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chỉ</a:t>
                      </a:r>
                      <a:r>
                        <a:rPr lang="en-US" sz="1400" dirty="0">
                          <a:effectLst/>
                        </a:rPr>
                        <a:t> con </a:t>
                      </a:r>
                      <a:r>
                        <a:rPr lang="en-US" sz="1400" dirty="0" err="1">
                          <a:effectLst/>
                        </a:rPr>
                        <a:t>trỏ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bằng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nhau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937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~=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So </a:t>
                      </a:r>
                      <a:r>
                        <a:rPr lang="en-US" sz="1400" dirty="0" err="1">
                          <a:effectLst/>
                        </a:rPr>
                        <a:t>sánh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địa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chỉ</a:t>
                      </a:r>
                      <a:r>
                        <a:rPr lang="en-US" sz="1400" dirty="0">
                          <a:effectLst/>
                        </a:rPr>
                        <a:t> con </a:t>
                      </a:r>
                      <a:r>
                        <a:rPr lang="en-US" sz="1400" dirty="0" err="1">
                          <a:effectLst/>
                        </a:rPr>
                        <a:t>trỏ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khác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nhau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93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81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725" y="960783"/>
            <a:ext cx="301635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548126"/>
              </p:ext>
            </p:extLst>
          </p:nvPr>
        </p:nvGraphicFramePr>
        <p:xfrm>
          <a:off x="1972068" y="1652962"/>
          <a:ext cx="5914632" cy="2286000"/>
        </p:xfrm>
        <a:graphic>
          <a:graphicData uri="http://schemas.openxmlformats.org/drawingml/2006/table">
            <a:tbl>
              <a:tblPr firstRow="1" firstCol="1" bandRow="1">
                <a:tableStyleId>{D251C139-4A55-4F1C-8D21-606A460AC8DD}</a:tableStyleId>
              </a:tblPr>
              <a:tblGrid>
                <a:gridCol w="1088164">
                  <a:extLst>
                    <a:ext uri="{9D8B030D-6E8A-4147-A177-3AD203B41FA5}">
                      <a16:colId xmlns:a16="http://schemas.microsoft.com/office/drawing/2014/main" val="100336121"/>
                    </a:ext>
                  </a:extLst>
                </a:gridCol>
                <a:gridCol w="2533159">
                  <a:extLst>
                    <a:ext uri="{9D8B030D-6E8A-4147-A177-3AD203B41FA5}">
                      <a16:colId xmlns:a16="http://schemas.microsoft.com/office/drawing/2014/main" val="2294986252"/>
                    </a:ext>
                  </a:extLst>
                </a:gridCol>
                <a:gridCol w="2293309">
                  <a:extLst>
                    <a:ext uri="{9D8B030D-6E8A-4147-A177-3AD203B41FA5}">
                      <a16:colId xmlns:a16="http://schemas.microsoft.com/office/drawing/2014/main" val="21107834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9911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 = b) | (a = c)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1409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 = b) &amp; (a = c)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944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or: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((a = b) or: [ a = c])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7924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and: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((a = b) and: [ a = c])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4397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475" y="1157300"/>
            <a:ext cx="8043600" cy="591987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smalltalk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1404730" y="1695244"/>
            <a:ext cx="1417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timesRepeat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00568" y="1967624"/>
            <a:ext cx="39340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timesRepeat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[Transcript show: 'Testing!'; cr.]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4730" y="2221358"/>
            <a:ext cx="8723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to: … do: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568" y="2529135"/>
            <a:ext cx="40831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to: 3 do: [ :each | Transcript show: each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printString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4730" y="2811338"/>
            <a:ext cx="73483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to: … by: … do: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4730" y="3308983"/>
            <a:ext cx="1465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whileTrue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…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00568" y="3065072"/>
            <a:ext cx="5936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to: 65 by: 5 do: [ :marker | Transcript show: marker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printString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567" y="3562717"/>
            <a:ext cx="700050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 b |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:= 4.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:= 9.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 &lt; b]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[Transcript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show: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printString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:= a + 1].</a:t>
            </a:r>
          </a:p>
        </p:txBody>
      </p:sp>
    </p:spTree>
    <p:extLst>
      <p:ext uri="{BB962C8B-B14F-4D97-AF65-F5344CB8AC3E}">
        <p14:creationId xmlns:p14="http://schemas.microsoft.com/office/powerpoint/2010/main" val="7167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4" grpId="0"/>
      <p:bldP spid="15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225" y="883688"/>
            <a:ext cx="8043600" cy="399831"/>
          </a:xfrm>
        </p:spPr>
        <p:txBody>
          <a:bodyPr/>
          <a:lstStyle/>
          <a:p>
            <a:pPr marL="76200" indent="0">
              <a:buNone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List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72099"/>
              </p:ext>
            </p:extLst>
          </p:nvPr>
        </p:nvGraphicFramePr>
        <p:xfrm>
          <a:off x="1792080" y="1573066"/>
          <a:ext cx="6354970" cy="2787269"/>
        </p:xfrm>
        <a:graphic>
          <a:graphicData uri="http://schemas.openxmlformats.org/drawingml/2006/table">
            <a:tbl>
              <a:tblPr firstRow="1" firstCol="1" bandRow="1">
                <a:tableStyleId>{D251C139-4A55-4F1C-8D21-606A460AC8DD}</a:tableStyleId>
              </a:tblPr>
              <a:tblGrid>
                <a:gridCol w="2129345">
                  <a:extLst>
                    <a:ext uri="{9D8B030D-6E8A-4147-A177-3AD203B41FA5}">
                      <a16:colId xmlns:a16="http://schemas.microsoft.com/office/drawing/2014/main" val="1367035505"/>
                    </a:ext>
                  </a:extLst>
                </a:gridCol>
                <a:gridCol w="2092975">
                  <a:extLst>
                    <a:ext uri="{9D8B030D-6E8A-4147-A177-3AD203B41FA5}">
                      <a16:colId xmlns:a16="http://schemas.microsoft.com/office/drawing/2014/main" val="1206466325"/>
                    </a:ext>
                  </a:extLst>
                </a:gridCol>
                <a:gridCol w="2132650">
                  <a:extLst>
                    <a:ext uri="{9D8B030D-6E8A-4147-A177-3AD203B41FA5}">
                      <a16:colId xmlns:a16="http://schemas.microsoft.com/office/drawing/2014/main" val="3288455696"/>
                    </a:ext>
                  </a:extLst>
                </a:gridCol>
              </a:tblGrid>
              <a:tr h="179983">
                <a:tc>
                  <a:txBody>
                    <a:bodyPr/>
                    <a:lstStyle/>
                    <a:p>
                      <a:pPr marL="4572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Cú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 tả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extLst>
                  <a:ext uri="{0D108BD9-81ED-4DB2-BD59-A6C34878D82A}">
                    <a16:rowId xmlns:a16="http://schemas.microsoft.com/office/drawing/2014/main" val="1381539451"/>
                  </a:ext>
                </a:extLst>
              </a:tr>
              <a:tr h="14227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contructor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#(8 7 6)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298326"/>
                  </a:ext>
                </a:extLst>
              </a:tr>
              <a:tr h="10266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aList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:= List new.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extLst>
                  <a:ext uri="{0D108BD9-81ED-4DB2-BD59-A6C34878D82A}">
                    <a16:rowId xmlns:a16="http://schemas.microsoft.com/office/drawing/2014/main" val="3495021278"/>
                  </a:ext>
                </a:extLst>
              </a:tr>
              <a:tr h="22980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cuối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add: 3.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247834"/>
                  </a:ext>
                </a:extLst>
              </a:tr>
              <a:tr h="43176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detect: […]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ifNone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[…]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list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:= #(8 9 7).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detect: [ :each | each = 8 ]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ifNone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[ ^nil ]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extLst>
                  <a:ext uri="{0D108BD9-81ED-4DB2-BD59-A6C34878D82A}">
                    <a16:rowId xmlns:a16="http://schemas.microsoft.com/office/drawing/2014/main" val="2501744163"/>
                  </a:ext>
                </a:extLst>
              </a:tr>
              <a:tr h="28455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Remove: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ifAbsent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…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tồn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sẽ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lệnh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ifAbsent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remove: 0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ifAbsent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[ Transcript show: 'not exist '] 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702026"/>
                  </a:ext>
                </a:extLst>
              </a:tr>
              <a:tr h="15834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At(…)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Lấy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đươc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đỉnh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at: 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877" marR="28877" marT="0" marB="0"/>
                </a:tc>
                <a:extLst>
                  <a:ext uri="{0D108BD9-81ED-4DB2-BD59-A6C34878D82A}">
                    <a16:rowId xmlns:a16="http://schemas.microsoft.com/office/drawing/2014/main" val="230191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68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ctrTitle"/>
          </p:nvPr>
        </p:nvSpPr>
        <p:spPr>
          <a:xfrm>
            <a:off x="673775" y="3217625"/>
            <a:ext cx="8769350" cy="6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5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500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SmallTalk</a:t>
            </a:r>
            <a:r>
              <a:rPr lang="en-US" sz="5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MCFrame</a:t>
            </a:r>
            <a:endParaRPr lang="en-US" sz="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51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MCFrame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ERP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chi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MCFrame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VisualWorks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Oracle database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MCFrame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FrameManager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153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What is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MCFrame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85204" y="1541352"/>
            <a:ext cx="5612130" cy="26041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1727" y="4262913"/>
            <a:ext cx="18774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</a:rPr>
              <a:t>trúc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游明朝" panose="02020400000000000000" pitchFamily="18" charset="-128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游明朝" panose="02020400000000000000" pitchFamily="18" charset="-128"/>
              </a:rPr>
              <a:t>MCFrame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80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49" y="346075"/>
            <a:ext cx="6543675" cy="45100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87887" y="4038601"/>
            <a:ext cx="1230313" cy="374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15037" y="4038601"/>
            <a:ext cx="1230313" cy="374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16051" y="4038601"/>
            <a:ext cx="1206500" cy="81754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59400" y="850900"/>
            <a:ext cx="1466850" cy="19685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948896" y="850901"/>
            <a:ext cx="767557" cy="1968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719388" y="4032252"/>
            <a:ext cx="1230313" cy="3746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16049" y="850900"/>
            <a:ext cx="3802448" cy="12064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321550" y="685800"/>
            <a:ext cx="0" cy="16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830770" y="3622333"/>
            <a:ext cx="832643" cy="23571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46824" y="3603668"/>
            <a:ext cx="647700" cy="23571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84293" y="390119"/>
            <a:ext cx="1257709" cy="23571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70701" y="450086"/>
            <a:ext cx="952500" cy="23571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388196" y="346075"/>
            <a:ext cx="1554153" cy="29129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Đườ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ác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debug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555553" y="3622332"/>
            <a:ext cx="832643" cy="23571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897174" y="3596133"/>
            <a:ext cx="832643" cy="23571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570674" y="3858045"/>
            <a:ext cx="0" cy="16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007394" y="3867152"/>
            <a:ext cx="0" cy="16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247091" y="3867152"/>
            <a:ext cx="0" cy="16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317273" y="3867152"/>
            <a:ext cx="0" cy="16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313496" y="653842"/>
            <a:ext cx="3777" cy="21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013148" y="642517"/>
            <a:ext cx="3777" cy="21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271564" y="2722009"/>
            <a:ext cx="832643" cy="23571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Sourse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19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>
            <a:spLocks noGrp="1"/>
          </p:cNvSpPr>
          <p:nvPr>
            <p:ph type="ctrTitle" idx="4294967295"/>
          </p:nvPr>
        </p:nvSpPr>
        <p:spPr>
          <a:xfrm>
            <a:off x="2457450" y="1507675"/>
            <a:ext cx="5422800" cy="154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rgbClr val="111111"/>
                </a:solidFill>
              </a:rPr>
              <a:t>Thanks!</a:t>
            </a:r>
            <a:endParaRPr sz="9600" dirty="0">
              <a:solidFill>
                <a:srgbClr val="111111"/>
              </a:solidFill>
            </a:endParaRPr>
          </a:p>
        </p:txBody>
      </p:sp>
      <p:sp>
        <p:nvSpPr>
          <p:cNvPr id="315" name="Google Shape;315;p36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e template">
  <a:themeElements>
    <a:clrScheme name="Custom 347">
      <a:dk1>
        <a:srgbClr val="111111"/>
      </a:dk1>
      <a:lt1>
        <a:srgbClr val="FFFFFF"/>
      </a:lt1>
      <a:dk2>
        <a:srgbClr val="666666"/>
      </a:dk2>
      <a:lt2>
        <a:srgbClr val="EFEFEF"/>
      </a:lt2>
      <a:accent1>
        <a:srgbClr val="6B9FA4"/>
      </a:accent1>
      <a:accent2>
        <a:srgbClr val="B1D9DD"/>
      </a:accent2>
      <a:accent3>
        <a:srgbClr val="E6DD8C"/>
      </a:accent3>
      <a:accent4>
        <a:srgbClr val="F1EDCC"/>
      </a:accent4>
      <a:accent5>
        <a:srgbClr val="742E46"/>
      </a:accent5>
      <a:accent6>
        <a:srgbClr val="B98094"/>
      </a:accent6>
      <a:hlink>
        <a:srgbClr val="111111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685</Words>
  <Application>Microsoft Office PowerPoint</Application>
  <PresentationFormat>On-screen Show (16:9)</PresentationFormat>
  <Paragraphs>151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Montserrat</vt:lpstr>
      <vt:lpstr>Muli</vt:lpstr>
      <vt:lpstr>Yu Gothic UI</vt:lpstr>
      <vt:lpstr>游明朝</vt:lpstr>
      <vt:lpstr>Arial</vt:lpstr>
      <vt:lpstr>Calibri</vt:lpstr>
      <vt:lpstr>Times New Roman</vt:lpstr>
      <vt:lpstr>Base template</vt:lpstr>
      <vt:lpstr> Giới thiệu Ngôn ngữ SmallTalk</vt:lpstr>
      <vt:lpstr>Mục lục</vt:lpstr>
      <vt:lpstr>1. Tổng quan</vt:lpstr>
      <vt:lpstr>1.1 Giới thiệu</vt:lpstr>
      <vt:lpstr>1.2 Công cụ phát triển </vt:lpstr>
      <vt:lpstr>PowerPoint Presentation</vt:lpstr>
      <vt:lpstr>1.3 Hàm trong Smalltalk</vt:lpstr>
      <vt:lpstr>2. Kiến thức cơ bản</vt:lpstr>
      <vt:lpstr>2.1 Toán tử</vt:lpstr>
      <vt:lpstr>2.1 Toán tử</vt:lpstr>
      <vt:lpstr>2.1 Toán tử</vt:lpstr>
      <vt:lpstr>2.1 Toán tử</vt:lpstr>
      <vt:lpstr>2.1 Toán tử</vt:lpstr>
      <vt:lpstr>3. SmallTalk trong MCFrame</vt:lpstr>
      <vt:lpstr>3.1 What is MCFrame.</vt:lpstr>
      <vt:lpstr>3.1 What is MCFrame.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Ngôn ngữ SmallTalk</dc:title>
  <cp:lastModifiedBy>Nguyen Van Minh</cp:lastModifiedBy>
  <cp:revision>247</cp:revision>
  <dcterms:modified xsi:type="dcterms:W3CDTF">2020-06-18T10:00:52Z</dcterms:modified>
</cp:coreProperties>
</file>